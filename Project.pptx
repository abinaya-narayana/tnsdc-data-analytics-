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Bold" charset="1" panose="02030802070405020303"/>
      <p:regular r:id="rId22"/>
    </p:embeddedFont>
    <p:embeddedFont>
      <p:font typeface="Trebuchet MS" charset="1" panose="020B0603020202020204"/>
      <p:regular r:id="rId23"/>
    </p:embeddedFont>
    <p:embeddedFont>
      <p:font typeface="TT Rounds Condensed" charset="1" panose="02000506030000020003"/>
      <p:regular r:id="rId24"/>
    </p:embeddedFont>
    <p:embeddedFont>
      <p:font typeface="Trebuchet MS Bold" charset="1" panose="020B0703020202020204"/>
      <p:regular r:id="rId25"/>
    </p:embeddedFont>
    <p:embeddedFont>
      <p:font typeface="Times New Roman" charset="1" panose="02030502070405020303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6.pn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14448" y="1485900"/>
            <a:ext cx="2614612" cy="2000250"/>
          </a:xfrm>
          <a:custGeom>
            <a:avLst/>
            <a:gdLst/>
            <a:ahLst/>
            <a:cxnLst/>
            <a:rect r="r" b="b" t="t" l="l"/>
            <a:pathLst>
              <a:path h="2000250" w="2614612">
                <a:moveTo>
                  <a:pt x="0" y="0"/>
                </a:moveTo>
                <a:lnTo>
                  <a:pt x="2614613" y="0"/>
                </a:lnTo>
                <a:lnTo>
                  <a:pt x="2614613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629275" y="1785938"/>
            <a:ext cx="2500312" cy="2157412"/>
            <a:chOff x="0" y="0"/>
            <a:chExt cx="3333750" cy="2876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337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333750">
                  <a:moveTo>
                    <a:pt x="2614676" y="0"/>
                  </a:moveTo>
                  <a:lnTo>
                    <a:pt x="719074" y="0"/>
                  </a:lnTo>
                  <a:lnTo>
                    <a:pt x="0" y="1438148"/>
                  </a:lnTo>
                  <a:lnTo>
                    <a:pt x="719074" y="2876550"/>
                  </a:lnTo>
                  <a:lnTo>
                    <a:pt x="2614676" y="2876550"/>
                  </a:lnTo>
                  <a:lnTo>
                    <a:pt x="3333750" y="1438148"/>
                  </a:lnTo>
                  <a:lnTo>
                    <a:pt x="2614676" y="0"/>
                  </a:lnTo>
                  <a:close/>
                </a:path>
              </a:pathLst>
            </a:custGeom>
            <a:solidFill>
              <a:srgbClr val="42D0A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00712" y="7843838"/>
            <a:ext cx="1085850" cy="928688"/>
            <a:chOff x="0" y="0"/>
            <a:chExt cx="1447800" cy="1238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478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447800">
                  <a:moveTo>
                    <a:pt x="1138174" y="0"/>
                  </a:moveTo>
                  <a:lnTo>
                    <a:pt x="309626" y="0"/>
                  </a:lnTo>
                  <a:lnTo>
                    <a:pt x="0" y="619252"/>
                  </a:lnTo>
                  <a:lnTo>
                    <a:pt x="309626" y="1238250"/>
                  </a:lnTo>
                  <a:lnTo>
                    <a:pt x="1138174" y="1238250"/>
                  </a:lnTo>
                  <a:lnTo>
                    <a:pt x="1447800" y="619252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74339" y="647738"/>
            <a:ext cx="14973300" cy="15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F0F0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Employee Data Analysis using Excel </a:t>
            </a:r>
          </a:p>
          <a:p>
            <a:pPr algn="l">
              <a:lnSpc>
                <a:spcPts val="57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14412" y="9701212"/>
            <a:ext cx="3214688" cy="300038"/>
          </a:xfrm>
          <a:custGeom>
            <a:avLst/>
            <a:gdLst/>
            <a:ahLst/>
            <a:cxnLst/>
            <a:rect r="r" b="b" t="t" l="l"/>
            <a:pathLst>
              <a:path h="300038" w="3214688">
                <a:moveTo>
                  <a:pt x="0" y="0"/>
                </a:moveTo>
                <a:lnTo>
                  <a:pt x="3214688" y="0"/>
                </a:lnTo>
                <a:lnTo>
                  <a:pt x="3214688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666" t="0" r="-66666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12979" y="4974906"/>
            <a:ext cx="14819100" cy="337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STUDENT NAME:   V ABINAYA</a:t>
            </a:r>
          </a:p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REGISTER NO:        312206350 </a:t>
            </a:r>
            <a:r>
              <a:rPr lang="en-US" sz="3600" spc="33">
                <a:solidFill>
                  <a:srgbClr val="376092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(unm299bcom(g)1)</a:t>
            </a:r>
          </a:p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DEPARTMENT:       Bcom(General)</a:t>
            </a:r>
          </a:p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COLLEGE:                S.S.K.V. COLLEGE OF ARTS &amp; SCIENCE FOR WOMEN</a:t>
            </a:r>
          </a:p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                                KANCHIPURAM.</a:t>
            </a:r>
          </a:p>
          <a:p>
            <a:pPr algn="l">
              <a:lnSpc>
                <a:spcPts val="4320"/>
              </a:lnSpc>
            </a:pPr>
            <a:r>
              <a:rPr lang="en-US" sz="3600" spc="3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    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65774" y="0"/>
            <a:ext cx="7129462" cy="10294843"/>
          </a:xfrm>
          <a:custGeom>
            <a:avLst/>
            <a:gdLst/>
            <a:ahLst/>
            <a:cxnLst/>
            <a:rect r="r" b="b" t="t" l="l"/>
            <a:pathLst>
              <a:path h="10294843" w="7129462">
                <a:moveTo>
                  <a:pt x="0" y="0"/>
                </a:moveTo>
                <a:lnTo>
                  <a:pt x="7129463" y="0"/>
                </a:lnTo>
                <a:lnTo>
                  <a:pt x="7129463" y="10294843"/>
                </a:lnTo>
                <a:lnTo>
                  <a:pt x="0" y="10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09662" y="1251425"/>
            <a:ext cx="586454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spc="7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TITLE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14412" y="9701212"/>
            <a:ext cx="3214688" cy="300038"/>
          </a:xfrm>
          <a:custGeom>
            <a:avLst/>
            <a:gdLst/>
            <a:ahLst/>
            <a:cxnLst/>
            <a:rect r="r" b="b" t="t" l="l"/>
            <a:pathLst>
              <a:path h="300038" w="3214688">
                <a:moveTo>
                  <a:pt x="0" y="0"/>
                </a:moveTo>
                <a:lnTo>
                  <a:pt x="3214688" y="0"/>
                </a:lnTo>
                <a:lnTo>
                  <a:pt x="3214688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666" t="0" r="-66666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00088" y="9615488"/>
            <a:ext cx="5557838" cy="442912"/>
          </a:xfrm>
          <a:custGeom>
            <a:avLst/>
            <a:gdLst/>
            <a:ahLst/>
            <a:cxnLst/>
            <a:rect r="r" b="b" t="t" l="l"/>
            <a:pathLst>
              <a:path h="442912" w="5557838">
                <a:moveTo>
                  <a:pt x="0" y="0"/>
                </a:moveTo>
                <a:lnTo>
                  <a:pt x="5557837" y="0"/>
                </a:lnTo>
                <a:lnTo>
                  <a:pt x="5557837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4" r="0" b="-12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17723" y="3097276"/>
            <a:ext cx="12706962" cy="221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0F0F0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Employee Attendance Analysis using Excel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" y="42868"/>
            <a:ext cx="18722570" cy="10287000"/>
            <a:chOff x="0" y="0"/>
            <a:chExt cx="24963426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33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963374">
                  <a:moveTo>
                    <a:pt x="2496337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963374" y="13716000"/>
                  </a:lnTo>
                  <a:lnTo>
                    <a:pt x="24963374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65774" y="0"/>
            <a:ext cx="7129462" cy="10294843"/>
          </a:xfrm>
          <a:custGeom>
            <a:avLst/>
            <a:gdLst/>
            <a:ahLst/>
            <a:cxnLst/>
            <a:rect r="r" b="b" t="t" l="l"/>
            <a:pathLst>
              <a:path h="10294843" w="7129462">
                <a:moveTo>
                  <a:pt x="0" y="0"/>
                </a:moveTo>
                <a:lnTo>
                  <a:pt x="7129463" y="0"/>
                </a:lnTo>
                <a:lnTo>
                  <a:pt x="7129463" y="10294843"/>
                </a:lnTo>
                <a:lnTo>
                  <a:pt x="0" y="10294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28712" y="9719531"/>
            <a:ext cx="2660333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650" spc="30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lang="en-US" sz="1650" spc="30">
                <a:solidFill>
                  <a:srgbClr val="2D83C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Annual Review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44238" y="671512"/>
            <a:ext cx="542925" cy="542925"/>
            <a:chOff x="0" y="0"/>
            <a:chExt cx="723900" cy="72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361950" y="0"/>
                  </a:moveTo>
                  <a:lnTo>
                    <a:pt x="265684" y="12954"/>
                  </a:lnTo>
                  <a:lnTo>
                    <a:pt x="179324" y="49403"/>
                  </a:lnTo>
                  <a:lnTo>
                    <a:pt x="106045" y="106045"/>
                  </a:lnTo>
                  <a:lnTo>
                    <a:pt x="49403" y="179324"/>
                  </a:lnTo>
                  <a:lnTo>
                    <a:pt x="12954" y="265684"/>
                  </a:lnTo>
                  <a:lnTo>
                    <a:pt x="0" y="361950"/>
                  </a:lnTo>
                  <a:lnTo>
                    <a:pt x="12954" y="458216"/>
                  </a:lnTo>
                  <a:lnTo>
                    <a:pt x="49403" y="544703"/>
                  </a:lnTo>
                  <a:lnTo>
                    <a:pt x="106045" y="617982"/>
                  </a:lnTo>
                  <a:lnTo>
                    <a:pt x="179324" y="674624"/>
                  </a:lnTo>
                  <a:lnTo>
                    <a:pt x="265811" y="711073"/>
                  </a:lnTo>
                  <a:lnTo>
                    <a:pt x="361950" y="723900"/>
                  </a:lnTo>
                  <a:lnTo>
                    <a:pt x="458216" y="710946"/>
                  </a:lnTo>
                  <a:lnTo>
                    <a:pt x="544703" y="674497"/>
                  </a:lnTo>
                  <a:lnTo>
                    <a:pt x="617982" y="617855"/>
                  </a:lnTo>
                  <a:lnTo>
                    <a:pt x="674624" y="544576"/>
                  </a:lnTo>
                  <a:lnTo>
                    <a:pt x="711073" y="458089"/>
                  </a:lnTo>
                  <a:lnTo>
                    <a:pt x="723900" y="361950"/>
                  </a:lnTo>
                  <a:lnTo>
                    <a:pt x="710946" y="265684"/>
                  </a:lnTo>
                  <a:lnTo>
                    <a:pt x="674497" y="179197"/>
                  </a:lnTo>
                  <a:lnTo>
                    <a:pt x="617855" y="105918"/>
                  </a:lnTo>
                  <a:lnTo>
                    <a:pt x="544576" y="49276"/>
                  </a:lnTo>
                  <a:lnTo>
                    <a:pt x="458089" y="12827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516350" y="8415338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30575" y="9201150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0088" y="9615488"/>
            <a:ext cx="5557838" cy="442912"/>
          </a:xfrm>
          <a:custGeom>
            <a:avLst/>
            <a:gdLst/>
            <a:ahLst/>
            <a:cxnLst/>
            <a:rect r="r" b="b" t="t" l="l"/>
            <a:pathLst>
              <a:path h="442912" w="5557838">
                <a:moveTo>
                  <a:pt x="0" y="0"/>
                </a:moveTo>
                <a:lnTo>
                  <a:pt x="5557837" y="0"/>
                </a:lnTo>
                <a:lnTo>
                  <a:pt x="5557837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4" r="0" b="-12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438" y="5729285"/>
            <a:ext cx="2600325" cy="4514847"/>
          </a:xfrm>
          <a:custGeom>
            <a:avLst/>
            <a:gdLst/>
            <a:ahLst/>
            <a:cxnLst/>
            <a:rect r="r" b="b" t="t" l="l"/>
            <a:pathLst>
              <a:path h="4514847" w="2600325">
                <a:moveTo>
                  <a:pt x="0" y="0"/>
                </a:moveTo>
                <a:lnTo>
                  <a:pt x="2600324" y="0"/>
                </a:lnTo>
                <a:lnTo>
                  <a:pt x="2600324" y="4514847"/>
                </a:lnTo>
                <a:lnTo>
                  <a:pt x="0" y="4514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" t="0" r="-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9662" y="662367"/>
            <a:ext cx="35356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AGENDA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56151" y="1522295"/>
            <a:ext cx="7360920" cy="659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Users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and Proposition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Modelling Approach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</a:p>
          <a:p>
            <a:pPr algn="l" marL="760095" indent="-380048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 marL="760095" indent="-380048" lvl="1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987212" y="4400550"/>
            <a:ext cx="4143375" cy="4886325"/>
          </a:xfrm>
          <a:custGeom>
            <a:avLst/>
            <a:gdLst/>
            <a:ahLst/>
            <a:cxnLst/>
            <a:rect r="r" b="b" t="t" l="l"/>
            <a:pathLst>
              <a:path h="4886325" w="4143375">
                <a:moveTo>
                  <a:pt x="0" y="0"/>
                </a:moveTo>
                <a:lnTo>
                  <a:pt x="4143376" y="0"/>
                </a:lnTo>
                <a:lnTo>
                  <a:pt x="4143376" y="4886325"/>
                </a:lnTo>
                <a:lnTo>
                  <a:pt x="0" y="488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" t="0" r="-21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51108" y="869567"/>
            <a:ext cx="10571817" cy="1109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spc="22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STATEMENT</a:t>
            </a: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1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    </a:t>
            </a:r>
            <a:r>
              <a:rPr lang="en-US" sz="3000" spc="1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tracking  and analysis of employee attendance are often error-prone and inefficient, limiting an organization’s ability to uncover valuable insights.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1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This project aims to develop a data-driven solution to  accurately analyze attendance patterns, helping organizations optimize workforce management and improve overall productivity.</a:t>
            </a: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7650"/>
              </a:lnSpc>
            </a:pPr>
            <a:r>
              <a:rPr lang="en-US" sz="6375" spc="1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 </a:t>
            </a: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7650"/>
              </a:lnSpc>
            </a:pPr>
            <a:r>
              <a:rPr lang="en-US" sz="6375" spc="1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14412" y="9701212"/>
            <a:ext cx="3214688" cy="300038"/>
          </a:xfrm>
          <a:custGeom>
            <a:avLst/>
            <a:gdLst/>
            <a:ahLst/>
            <a:cxnLst/>
            <a:rect r="r" b="b" t="t" l="l"/>
            <a:pathLst>
              <a:path h="300038" w="3214688">
                <a:moveTo>
                  <a:pt x="0" y="0"/>
                </a:moveTo>
                <a:lnTo>
                  <a:pt x="3214688" y="0"/>
                </a:lnTo>
                <a:lnTo>
                  <a:pt x="3214688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66" t="0" r="-66666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2987338" y="3971925"/>
            <a:ext cx="5300662" cy="5715000"/>
          </a:xfrm>
          <a:custGeom>
            <a:avLst/>
            <a:gdLst/>
            <a:ahLst/>
            <a:cxnLst/>
            <a:rect r="r" b="b" t="t" l="l"/>
            <a:pathLst>
              <a:path h="5715000" w="5300662">
                <a:moveTo>
                  <a:pt x="0" y="0"/>
                </a:moveTo>
                <a:lnTo>
                  <a:pt x="5300662" y="0"/>
                </a:lnTo>
                <a:lnTo>
                  <a:pt x="5300662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09662" y="1251424"/>
            <a:ext cx="11999146" cy="462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spc="-3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	OVERVIEW</a:t>
            </a: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 spc="-30">
                <a:solidFill>
                  <a:srgbClr val="00B0F0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</a:t>
            </a:r>
            <a:r>
              <a:rPr lang="en-US" sz="3600" spc="-3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Analyze employee attendance data to identify patterns, trends, and issues affecting productivity, and provide actionable insights for improvement.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14412" y="9701212"/>
            <a:ext cx="3214688" cy="300038"/>
          </a:xfrm>
          <a:custGeom>
            <a:avLst/>
            <a:gdLst/>
            <a:ahLst/>
            <a:cxnLst/>
            <a:rect r="r" b="b" t="t" l="l"/>
            <a:pathLst>
              <a:path h="300038" w="3214688">
                <a:moveTo>
                  <a:pt x="0" y="0"/>
                </a:moveTo>
                <a:lnTo>
                  <a:pt x="3214688" y="0"/>
                </a:lnTo>
                <a:lnTo>
                  <a:pt x="3214688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66" t="0" r="-6666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49178" y="1344674"/>
            <a:ext cx="7521893" cy="721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-1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1.Manager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2.Organization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3.Employee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4.Employer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5.IT Sectors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85850" y="9258300"/>
            <a:ext cx="3271838" cy="728662"/>
          </a:xfrm>
          <a:custGeom>
            <a:avLst/>
            <a:gdLst/>
            <a:ahLst/>
            <a:cxnLst/>
            <a:rect r="r" b="b" t="t" l="l"/>
            <a:pathLst>
              <a:path h="728662" w="3271838">
                <a:moveTo>
                  <a:pt x="0" y="0"/>
                </a:moveTo>
                <a:lnTo>
                  <a:pt x="3271838" y="0"/>
                </a:lnTo>
                <a:lnTo>
                  <a:pt x="3271838" y="728662"/>
                </a:lnTo>
                <a:lnTo>
                  <a:pt x="0" y="72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085850" y="9258300"/>
            <a:ext cx="3271838" cy="728662"/>
          </a:xfrm>
          <a:custGeom>
            <a:avLst/>
            <a:gdLst/>
            <a:ahLst/>
            <a:cxnLst/>
            <a:rect r="r" b="b" t="t" l="l"/>
            <a:pathLst>
              <a:path h="728662" w="3271838">
                <a:moveTo>
                  <a:pt x="0" y="0"/>
                </a:moveTo>
                <a:lnTo>
                  <a:pt x="3271838" y="0"/>
                </a:lnTo>
                <a:lnTo>
                  <a:pt x="3271838" y="728662"/>
                </a:lnTo>
                <a:lnTo>
                  <a:pt x="0" y="72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952070" y="4068772"/>
            <a:ext cx="3523956" cy="3767922"/>
          </a:xfrm>
          <a:custGeom>
            <a:avLst/>
            <a:gdLst/>
            <a:ahLst/>
            <a:cxnLst/>
            <a:rect r="r" b="b" t="t" l="l"/>
            <a:pathLst>
              <a:path h="3767922" w="3523956">
                <a:moveTo>
                  <a:pt x="0" y="0"/>
                </a:moveTo>
                <a:lnTo>
                  <a:pt x="3523956" y="0"/>
                </a:lnTo>
                <a:lnTo>
                  <a:pt x="3523956" y="3767922"/>
                </a:lnTo>
                <a:lnTo>
                  <a:pt x="0" y="3767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49178" y="1344674"/>
            <a:ext cx="7521893" cy="721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-1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1.Manager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2.Organization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3.Employee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4.Employer</a:t>
            </a:r>
          </a:p>
          <a:p>
            <a:pPr algn="l">
              <a:lnSpc>
                <a:spcPts val="4320"/>
              </a:lnSpc>
            </a:pPr>
            <a:r>
              <a:rPr lang="en-US" sz="36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5.IT Sectors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0" y="2214562"/>
            <a:ext cx="4043361" cy="4872038"/>
          </a:xfrm>
          <a:custGeom>
            <a:avLst/>
            <a:gdLst/>
            <a:ahLst/>
            <a:cxnLst/>
            <a:rect r="r" b="b" t="t" l="l"/>
            <a:pathLst>
              <a:path h="4872038" w="4043361">
                <a:moveTo>
                  <a:pt x="0" y="0"/>
                </a:moveTo>
                <a:lnTo>
                  <a:pt x="4043361" y="0"/>
                </a:lnTo>
                <a:lnTo>
                  <a:pt x="4043361" y="4872038"/>
                </a:lnTo>
                <a:lnTo>
                  <a:pt x="0" y="4872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" t="0" r="-13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37248" y="1290637"/>
            <a:ext cx="14644688" cy="389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spc="37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OUR SOLUTION AND ITS VALUE PROPOSITION</a:t>
            </a: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648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 spc="2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                       </a:t>
            </a:r>
            <a:r>
              <a:rPr lang="en-US" sz="3600" spc="2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 Pivot : Summary</a:t>
            </a:r>
          </a:p>
          <a:p>
            <a:pPr algn="l">
              <a:lnSpc>
                <a:spcPts val="4320"/>
              </a:lnSpc>
            </a:pPr>
            <a:r>
              <a:rPr lang="en-US" sz="3600" spc="25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. Graph: Data visualization                   </a:t>
            </a:r>
            <a:r>
              <a:rPr lang="en-US" sz="3600" spc="25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		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30127" y="9707466"/>
            <a:ext cx="22669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14412" y="9701212"/>
            <a:ext cx="3214688" cy="300038"/>
          </a:xfrm>
          <a:custGeom>
            <a:avLst/>
            <a:gdLst/>
            <a:ahLst/>
            <a:cxnLst/>
            <a:rect r="r" b="b" t="t" l="l"/>
            <a:pathLst>
              <a:path h="300038" w="3214688">
                <a:moveTo>
                  <a:pt x="0" y="0"/>
                </a:moveTo>
                <a:lnTo>
                  <a:pt x="3214688" y="0"/>
                </a:lnTo>
                <a:lnTo>
                  <a:pt x="3214688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66" t="0" r="-6666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4382" y="731013"/>
            <a:ext cx="16022002" cy="722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Dataset Description</a:t>
            </a:r>
          </a:p>
          <a:p>
            <a:pPr algn="l">
              <a:lnSpc>
                <a:spcPts val="864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  Employee-kaggle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  Employee ID-number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  Week number-number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  Absence type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  Hours-hrs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  Employee status-active/inactive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  Attendance level – fullday/halfday/hourly absent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28712" y="9719531"/>
            <a:ext cx="2660333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650" spc="30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lang="en-US" sz="1650" spc="30">
                <a:solidFill>
                  <a:srgbClr val="2D83C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Annual Review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00012" y="5072060"/>
            <a:ext cx="3700462" cy="5129212"/>
          </a:xfrm>
          <a:custGeom>
            <a:avLst/>
            <a:gdLst/>
            <a:ahLst/>
            <a:cxnLst/>
            <a:rect r="r" b="b" t="t" l="l"/>
            <a:pathLst>
              <a:path h="5129212" w="3700462">
                <a:moveTo>
                  <a:pt x="0" y="0"/>
                </a:moveTo>
                <a:lnTo>
                  <a:pt x="3700463" y="0"/>
                </a:lnTo>
                <a:lnTo>
                  <a:pt x="3700463" y="5129212"/>
                </a:lnTo>
                <a:lnTo>
                  <a:pt x="0" y="5129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28" r="0" b="-142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09662" y="989392"/>
            <a:ext cx="12720638" cy="462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spc="3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THE "WOW" IN OUR SOLUTION</a:t>
            </a:r>
          </a:p>
          <a:p>
            <a:pPr algn="l">
              <a:lnSpc>
                <a:spcPts val="765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 spc="3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. Attendance level : </a:t>
            </a:r>
            <a:r>
              <a:rPr lang="en-US" sz="3600" spc="30">
                <a:solidFill>
                  <a:srgbClr val="FF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=IF(F2&lt;2,"hourly   absent",IF(F2&lt;=4,"half day absent",IF(F2&lt;=8,"fullday",))) 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500312" y="9701212"/>
            <a:ext cx="114300" cy="266700"/>
          </a:xfrm>
          <a:custGeom>
            <a:avLst/>
            <a:gdLst/>
            <a:ahLst/>
            <a:cxnLst/>
            <a:rect r="r" b="b" t="t" l="l"/>
            <a:pathLst>
              <a:path h="266700" w="114300">
                <a:moveTo>
                  <a:pt x="0" y="0"/>
                </a:moveTo>
                <a:lnTo>
                  <a:pt x="114300" y="0"/>
                </a:lnTo>
                <a:lnTo>
                  <a:pt x="114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666" t="0" r="-66666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7225" y="431005"/>
            <a:ext cx="4955856" cy="110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44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MODELLING</a:t>
            </a:r>
          </a:p>
          <a:p>
            <a:pPr algn="l">
              <a:lnSpc>
                <a:spcPts val="3600"/>
              </a:lnSpc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Data collection</a:t>
            </a:r>
          </a:p>
          <a:p>
            <a:pPr algn="l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  <a:buAutoNum type="arabicPeriod" startAt="1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Kaggle</a:t>
            </a:r>
          </a:p>
          <a:p>
            <a:pPr algn="l" marL="561975" indent="-280988" lvl="1">
              <a:lnSpc>
                <a:spcPts val="3600"/>
              </a:lnSpc>
              <a:buAutoNum type="arabicPeriod" startAt="1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Download the dataset</a:t>
            </a: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</a:pPr>
            <a:r>
              <a:rPr lang="en-US" sz="3000" spc="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Attendance  level</a:t>
            </a: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  <a:buAutoNum type="arabicPeriod" startAt="1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Calculate the attendance </a:t>
            </a:r>
          </a:p>
          <a:p>
            <a:pPr algn="l" marL="561975" indent="-280988" lvl="1">
              <a:lnSpc>
                <a:spcPts val="3600"/>
              </a:lnSpc>
              <a:buAutoNum type="arabicPeriod" startAt="1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Finalize the attendance</a:t>
            </a: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  <a:buFont typeface="Arial"/>
              <a:buChar char="•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</a:t>
            </a: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  <a:buAutoNum type="arabicPeriod" startAt="1"/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Pivot chart</a:t>
            </a:r>
          </a:p>
          <a:p>
            <a:pPr algn="l" marL="561975" indent="-280988" lvl="1">
              <a:lnSpc>
                <a:spcPts val="3600"/>
              </a:lnSpc>
            </a:pPr>
            <a:r>
              <a:rPr lang="en-US" sz="3000" spc="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2)   Data visualization</a:t>
            </a: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</a:pPr>
          </a:p>
          <a:p>
            <a:pPr algn="l" marL="561975" indent="-280988" lvl="1">
              <a:lnSpc>
                <a:spcPts val="3600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5087600" y="787712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0325" y="804386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914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14400" y="914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2AF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44112" y="2543175"/>
            <a:ext cx="471488" cy="485775"/>
            <a:chOff x="0" y="0"/>
            <a:chExt cx="62865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650" cy="647700"/>
            </a:xfrm>
            <a:custGeom>
              <a:avLst/>
              <a:gdLst/>
              <a:ahLst/>
              <a:cxnLst/>
              <a:rect r="r" b="b" t="t" l="l"/>
              <a:pathLst>
                <a:path h="647700" w="628650">
                  <a:moveTo>
                    <a:pt x="6286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28650" y="64770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2D83C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30325" y="8843962"/>
            <a:ext cx="271462" cy="271462"/>
            <a:chOff x="0" y="0"/>
            <a:chExt cx="361950" cy="361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3619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361950" y="3619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2500312" y="9701212"/>
            <a:ext cx="114300" cy="266700"/>
          </a:xfrm>
          <a:custGeom>
            <a:avLst/>
            <a:gdLst/>
            <a:ahLst/>
            <a:cxnLst/>
            <a:rect r="r" b="b" t="t" l="l"/>
            <a:pathLst>
              <a:path h="266700" w="114300">
                <a:moveTo>
                  <a:pt x="0" y="0"/>
                </a:moveTo>
                <a:lnTo>
                  <a:pt x="114300" y="0"/>
                </a:lnTo>
                <a:lnTo>
                  <a:pt x="114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666" t="0" r="-6666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32998" y="572451"/>
            <a:ext cx="365569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915827" y="9707466"/>
            <a:ext cx="34290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5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67943" y="867936"/>
            <a:ext cx="17873788" cy="9865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8995" y="94"/>
            <a:ext cx="1842135" cy="10294620"/>
            <a:chOff x="0" y="0"/>
            <a:chExt cx="2456180" cy="1372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7874"/>
              <a:ext cx="2455418" cy="13709650"/>
            </a:xfrm>
            <a:custGeom>
              <a:avLst/>
              <a:gdLst/>
              <a:ahLst/>
              <a:cxnLst/>
              <a:rect r="r" b="b" t="t" l="l"/>
              <a:pathLst>
                <a:path h="13709650" w="2455418">
                  <a:moveTo>
                    <a:pt x="18796" y="0"/>
                  </a:moveTo>
                  <a:lnTo>
                    <a:pt x="2455418" y="13706348"/>
                  </a:lnTo>
                  <a:lnTo>
                    <a:pt x="2436622" y="13709650"/>
                  </a:lnTo>
                  <a:lnTo>
                    <a:pt x="0" y="3302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65774" y="5535200"/>
            <a:ext cx="7129462" cy="4759642"/>
            <a:chOff x="0" y="0"/>
            <a:chExt cx="9505950" cy="6346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91" y="1651"/>
              <a:ext cx="9497441" cy="6341999"/>
            </a:xfrm>
            <a:custGeom>
              <a:avLst/>
              <a:gdLst/>
              <a:ahLst/>
              <a:cxnLst/>
              <a:rect r="r" b="b" t="t" l="l"/>
              <a:pathLst>
                <a:path h="6341999" w="9497441">
                  <a:moveTo>
                    <a:pt x="9497441" y="15748"/>
                  </a:moveTo>
                  <a:lnTo>
                    <a:pt x="10668" y="6341999"/>
                  </a:lnTo>
                  <a:lnTo>
                    <a:pt x="0" y="6326124"/>
                  </a:lnTo>
                  <a:lnTo>
                    <a:pt x="9486773" y="0"/>
                  </a:lnTo>
                  <a:close/>
                </a:path>
              </a:pathLst>
            </a:custGeom>
            <a:solidFill>
              <a:srgbClr val="5FCA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73150" y="0"/>
            <a:ext cx="4514850" cy="10287000"/>
            <a:chOff x="0" y="0"/>
            <a:chExt cx="6019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19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19800">
                  <a:moveTo>
                    <a:pt x="6019800" y="0"/>
                  </a:moveTo>
                  <a:lnTo>
                    <a:pt x="4088765" y="0"/>
                  </a:lnTo>
                  <a:lnTo>
                    <a:pt x="0" y="13716000"/>
                  </a:lnTo>
                  <a:lnTo>
                    <a:pt x="6019800" y="13716000"/>
                  </a:lnTo>
                  <a:lnTo>
                    <a:pt x="6019800" y="0"/>
                  </a:lnTo>
                  <a:close/>
                </a:path>
              </a:pathLst>
            </a:custGeom>
            <a:solidFill>
              <a:srgbClr val="5FCAEE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4317" y="0"/>
            <a:ext cx="3884295" cy="10287000"/>
            <a:chOff x="0" y="0"/>
            <a:chExt cx="517906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82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178298">
                  <a:moveTo>
                    <a:pt x="5178298" y="0"/>
                  </a:moveTo>
                  <a:lnTo>
                    <a:pt x="0" y="0"/>
                  </a:lnTo>
                  <a:lnTo>
                    <a:pt x="2417826" y="13716000"/>
                  </a:lnTo>
                  <a:lnTo>
                    <a:pt x="5178298" y="13716000"/>
                  </a:lnTo>
                  <a:lnTo>
                    <a:pt x="5178298" y="0"/>
                  </a:lnTo>
                  <a:close/>
                </a:path>
              </a:pathLst>
            </a:custGeom>
            <a:solidFill>
              <a:srgbClr val="5FCAEE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01675" y="4572000"/>
            <a:ext cx="4886325" cy="5715000"/>
            <a:chOff x="0" y="0"/>
            <a:chExt cx="6515100" cy="762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51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5100">
                  <a:moveTo>
                    <a:pt x="6515100" y="0"/>
                  </a:moveTo>
                  <a:lnTo>
                    <a:pt x="0" y="7620000"/>
                  </a:lnTo>
                  <a:lnTo>
                    <a:pt x="6515100" y="76200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06895" y="0"/>
            <a:ext cx="4281488" cy="10287000"/>
            <a:chOff x="0" y="0"/>
            <a:chExt cx="570865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81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708142">
                  <a:moveTo>
                    <a:pt x="5708142" y="0"/>
                  </a:moveTo>
                  <a:lnTo>
                    <a:pt x="0" y="0"/>
                  </a:lnTo>
                  <a:lnTo>
                    <a:pt x="4940046" y="13716000"/>
                  </a:lnTo>
                  <a:lnTo>
                    <a:pt x="5708142" y="13716000"/>
                  </a:lnTo>
                  <a:lnTo>
                    <a:pt x="5708142" y="0"/>
                  </a:lnTo>
                  <a:close/>
                </a:path>
              </a:pathLst>
            </a:custGeom>
            <a:solidFill>
              <a:srgbClr val="17AFE3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4900" y="0"/>
            <a:ext cx="1943100" cy="10287000"/>
            <a:chOff x="0" y="0"/>
            <a:chExt cx="25908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90800">
                  <a:moveTo>
                    <a:pt x="2590800" y="0"/>
                  </a:moveTo>
                  <a:lnTo>
                    <a:pt x="2044954" y="0"/>
                  </a:lnTo>
                  <a:lnTo>
                    <a:pt x="0" y="13716000"/>
                  </a:lnTo>
                  <a:lnTo>
                    <a:pt x="2590800" y="13716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2D83C3">
                <a:alpha val="6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04370" y="0"/>
            <a:ext cx="1884045" cy="10287000"/>
            <a:chOff x="0" y="0"/>
            <a:chExt cx="251206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155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11552">
                  <a:moveTo>
                    <a:pt x="2511552" y="0"/>
                  </a:moveTo>
                  <a:lnTo>
                    <a:pt x="0" y="0"/>
                  </a:lnTo>
                  <a:lnTo>
                    <a:pt x="2229104" y="13716000"/>
                  </a:lnTo>
                  <a:lnTo>
                    <a:pt x="2511552" y="13716000"/>
                  </a:lnTo>
                  <a:lnTo>
                    <a:pt x="2511552" y="0"/>
                  </a:lnTo>
                  <a:close/>
                </a:path>
              </a:pathLst>
            </a:custGeom>
            <a:solidFill>
              <a:srgbClr val="226192">
                <a:alpha val="7960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9088" y="5386388"/>
            <a:ext cx="2728912" cy="4900612"/>
            <a:chOff x="0" y="0"/>
            <a:chExt cx="3638550" cy="6534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6534150"/>
            </a:xfrm>
            <a:custGeom>
              <a:avLst/>
              <a:gdLst/>
              <a:ahLst/>
              <a:cxnLst/>
              <a:rect r="r" b="b" t="t" l="l"/>
              <a:pathLst>
                <a:path h="6534150" w="3638550">
                  <a:moveTo>
                    <a:pt x="3638550" y="0"/>
                  </a:moveTo>
                  <a:lnTo>
                    <a:pt x="0" y="6534150"/>
                  </a:lnTo>
                  <a:lnTo>
                    <a:pt x="3638550" y="65341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17AFE3">
                <a:alpha val="6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6015038"/>
            <a:ext cx="671512" cy="4271962"/>
            <a:chOff x="0" y="0"/>
            <a:chExt cx="895350" cy="5695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350" cy="5695950"/>
            </a:xfrm>
            <a:custGeom>
              <a:avLst/>
              <a:gdLst/>
              <a:ahLst/>
              <a:cxnLst/>
              <a:rect r="r" b="b" t="t" l="l"/>
              <a:pathLst>
                <a:path h="5695950" w="895350">
                  <a:moveTo>
                    <a:pt x="0" y="0"/>
                  </a:moveTo>
                  <a:lnTo>
                    <a:pt x="0" y="5695950"/>
                  </a:lnTo>
                  <a:lnTo>
                    <a:pt x="895350" y="569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69804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998" y="435291"/>
            <a:ext cx="16022002" cy="845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  <a:p>
            <a:pPr algn="l">
              <a:lnSpc>
                <a:spcPts val="864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The analysis of the employee attendance dataset revealed key patterns and department-specific trends in absenteeism and overtime. These findings enable the organization to implement targeted strategies, such as flexible work policies and department-specific interventions, to improve attendance and productivity. The insights and predictive models (if developed) will help in ongoing monitoring and proactive management of attendance issues. </a:t>
            </a:r>
          </a:p>
          <a:p>
            <a:pPr algn="l">
              <a:lnSpc>
                <a:spcPts val="8640"/>
              </a:lnSpc>
            </a:pP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DAGPZIQU_PI</dc:identifier>
  <dcterms:modified xsi:type="dcterms:W3CDTF">2011-08-01T06:04:30Z</dcterms:modified>
  <cp:revision>1</cp:revision>
  <dc:title>ABINAYA PPT.pptx</dc:title>
</cp:coreProperties>
</file>